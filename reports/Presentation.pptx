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9" r:id="rId1"/>
  </p:sldMasterIdLst>
  <p:notesMasterIdLst>
    <p:notesMasterId r:id="rId20"/>
  </p:notesMasterIdLst>
  <p:sldIdLst>
    <p:sldId id="257" r:id="rId2"/>
    <p:sldId id="259" r:id="rId3"/>
    <p:sldId id="260" r:id="rId4"/>
    <p:sldId id="261" r:id="rId5"/>
    <p:sldId id="265" r:id="rId6"/>
    <p:sldId id="267" r:id="rId7"/>
    <p:sldId id="268" r:id="rId8"/>
    <p:sldId id="269" r:id="rId9"/>
    <p:sldId id="270" r:id="rId10"/>
    <p:sldId id="271" r:id="rId11"/>
    <p:sldId id="272" r:id="rId12"/>
    <p:sldId id="277" r:id="rId13"/>
    <p:sldId id="278" r:id="rId14"/>
    <p:sldId id="335" r:id="rId15"/>
    <p:sldId id="280" r:id="rId16"/>
    <p:sldId id="282" r:id="rId17"/>
    <p:sldId id="283" r:id="rId18"/>
    <p:sldId id="33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FBE8A-C0CD-4202-AA5A-304D4FDB8D4B}"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416758-288C-4438-88D7-B426C6F666A1}" type="slidenum">
              <a:rPr lang="en-IN" smtClean="0"/>
              <a:t>‹#›</a:t>
            </a:fld>
            <a:endParaRPr lang="en-IN"/>
          </a:p>
        </p:txBody>
      </p:sp>
    </p:spTree>
    <p:extLst>
      <p:ext uri="{BB962C8B-B14F-4D97-AF65-F5344CB8AC3E}">
        <p14:creationId xmlns:p14="http://schemas.microsoft.com/office/powerpoint/2010/main" val="182448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2416758-288C-4438-88D7-B426C6F666A1}" type="slidenum">
              <a:rPr lang="en-IN" smtClean="0"/>
              <a:t>9</a:t>
            </a:fld>
            <a:endParaRPr lang="en-IN"/>
          </a:p>
        </p:txBody>
      </p:sp>
    </p:spTree>
    <p:extLst>
      <p:ext uri="{BB962C8B-B14F-4D97-AF65-F5344CB8AC3E}">
        <p14:creationId xmlns:p14="http://schemas.microsoft.com/office/powerpoint/2010/main" val="3989476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43898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555526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999771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953549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60C4F3F-57E7-4669-9713-D738C1EDBA93}" type="datetimeFigureOut">
              <a:rPr lang="en-IN" smtClean="0"/>
              <a:t>10-07-2026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09105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0C4F3F-57E7-4669-9713-D738C1EDBA93}" type="datetimeFigureOut">
              <a:rPr lang="en-IN" smtClean="0"/>
              <a:t>10-07-2026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311128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0C4F3F-57E7-4669-9713-D738C1EDBA93}" type="datetimeFigureOut">
              <a:rPr lang="en-IN" smtClean="0"/>
              <a:t>10-07-2026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684689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221996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372147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074384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B6C0AF-2541-437A-B8FC-F0BD5FC1728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51848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262186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B6C0AF-2541-437A-B8FC-F0BD5FC1728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74948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477005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67728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1986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60C4F3F-57E7-4669-9713-D738C1EDBA93}" type="datetimeFigureOut">
              <a:rPr lang="en-IN" smtClean="0"/>
              <a:t>10-07-2026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8B6C0AF-2541-437A-B8FC-F0BD5FC1728D}" type="slidenum">
              <a:rPr lang="en-IN" smtClean="0"/>
              <a:t>‹#›</a:t>
            </a:fld>
            <a:endParaRPr lang="en-IN"/>
          </a:p>
        </p:txBody>
      </p:sp>
    </p:spTree>
    <p:extLst>
      <p:ext uri="{BB962C8B-B14F-4D97-AF65-F5344CB8AC3E}">
        <p14:creationId xmlns:p14="http://schemas.microsoft.com/office/powerpoint/2010/main" val="2201534730"/>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8170" y="982140"/>
            <a:ext cx="8412763" cy="677108"/>
          </a:xfrm>
          <a:prstGeom prst="rect">
            <a:avLst/>
          </a:prstGeom>
        </p:spPr>
        <p:txBody>
          <a:bodyPr wrap="square">
            <a:spAutoFit/>
          </a:bodyPr>
          <a:lstStyle/>
          <a:p>
            <a:pPr algn="ctr"/>
            <a:r>
              <a:rPr lang="en-US" sz="3800" b="1" dirty="0">
                <a:latin typeface="Arial Black" panose="020B0A04020102020204" pitchFamily="34" charset="0"/>
              </a:rPr>
              <a:t>Mutual Fund Analytics</a:t>
            </a:r>
            <a:endParaRPr lang="en-IN" sz="3800" dirty="0">
              <a:latin typeface="Arial Black" panose="020B0A04020102020204" pitchFamily="34" charset="0"/>
            </a:endParaRPr>
          </a:p>
        </p:txBody>
      </p:sp>
      <p:sp>
        <p:nvSpPr>
          <p:cNvPr id="3" name="Google Shape;125;p12"/>
          <p:cNvSpPr txBox="1">
            <a:spLocks noGrp="1"/>
          </p:cNvSpPr>
          <p:nvPr>
            <p:ph type="subTitle" idx="1"/>
          </p:nvPr>
        </p:nvSpPr>
        <p:spPr>
          <a:xfrm>
            <a:off x="2018170" y="3795967"/>
            <a:ext cx="5466363" cy="1893634"/>
          </a:xfrm>
          <a:prstGeom prst="rect">
            <a:avLst/>
          </a:prstGeom>
          <a:noFill/>
          <a:ln>
            <a:noFill/>
          </a:ln>
        </p:spPr>
        <p:txBody>
          <a:bodyPr spcFirstLastPara="1" wrap="square" lIns="91425" tIns="45700" rIns="91425" bIns="45700" anchor="t" anchorCtr="0">
            <a:normAutofit lnSpcReduction="10000"/>
          </a:bodyPr>
          <a:lstStyle/>
          <a:p>
            <a:pPr algn="l"/>
            <a:r>
              <a:rPr lang="en-US" sz="2800" dirty="0" smtClean="0">
                <a:solidFill>
                  <a:schemeClr val="tx1"/>
                </a:solidFill>
                <a:latin typeface="Times New Roman" pitchFamily="18" charset="0"/>
                <a:cs typeface="Times New Roman" pitchFamily="18" charset="0"/>
              </a:rPr>
              <a:t>Name: Prabhash Kumar</a:t>
            </a:r>
          </a:p>
          <a:p>
            <a:r>
              <a:rPr lang="en-US" sz="2800" dirty="0" smtClean="0">
                <a:solidFill>
                  <a:schemeClr val="tx1"/>
                </a:solidFill>
                <a:latin typeface="Times New Roman" pitchFamily="18" charset="0"/>
                <a:cs typeface="Times New Roman" pitchFamily="18" charset="0"/>
              </a:rPr>
              <a:t>Organization: Bluestock </a:t>
            </a:r>
            <a:r>
              <a:rPr lang="en-US" sz="2800" dirty="0">
                <a:solidFill>
                  <a:schemeClr val="tx1"/>
                </a:solidFill>
                <a:latin typeface="Times New Roman" pitchFamily="18" charset="0"/>
                <a:cs typeface="Times New Roman" pitchFamily="18" charset="0"/>
              </a:rPr>
              <a:t>Fintech</a:t>
            </a:r>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Date</a:t>
            </a:r>
            <a:r>
              <a:rPr lang="en-US" sz="2800" dirty="0" smtClean="0">
                <a:latin typeface="Times New Roman" pitchFamily="18" charset="0"/>
                <a:cs typeface="Times New Roman" pitchFamily="18" charset="0"/>
              </a:rPr>
              <a:t>:</a:t>
            </a:r>
            <a:r>
              <a:rPr lang="en-US" sz="2800" dirty="0" smtClean="0">
                <a:solidFill>
                  <a:schemeClr val="tx1"/>
                </a:solidFill>
                <a:latin typeface="Times New Roman" pitchFamily="18" charset="0"/>
                <a:cs typeface="Times New Roman" pitchFamily="18" charset="0"/>
              </a:rPr>
              <a:t>20 </a:t>
            </a:r>
            <a:r>
              <a:rPr lang="en-US" sz="2800" dirty="0">
                <a:solidFill>
                  <a:schemeClr val="tx1"/>
                </a:solidFill>
                <a:latin typeface="Times New Roman" pitchFamily="18" charset="0"/>
                <a:cs typeface="Times New Roman" pitchFamily="18" charset="0"/>
              </a:rPr>
              <a:t>June 2026 – 10 July 2026 </a:t>
            </a:r>
            <a:r>
              <a:rPr lang="en-US" sz="2800" dirty="0" smtClean="0">
                <a:latin typeface="Times New Roman" pitchFamily="18" charset="0"/>
                <a:cs typeface="Times New Roman" pitchFamily="18" charset="0"/>
              </a:rPr>
              <a:t> </a:t>
            </a:r>
            <a:endParaRPr lang="en-IN" sz="2800" dirty="0">
              <a:latin typeface="Times New Roman" pitchFamily="18" charset="0"/>
              <a:cs typeface="Times New Roman" pitchFamily="18" charset="0"/>
            </a:endParaRPr>
          </a:p>
          <a:p>
            <a:pPr marL="0" lvl="0" indent="0" algn="ctr" rtl="0">
              <a:lnSpc>
                <a:spcPct val="90000"/>
              </a:lnSpc>
              <a:spcBef>
                <a:spcPts val="0"/>
              </a:spcBef>
              <a:spcAft>
                <a:spcPts val="0"/>
              </a:spcAft>
              <a:buClr>
                <a:schemeClr val="dk1"/>
              </a:buClr>
              <a:buSzPts val="2400"/>
              <a:buNone/>
            </a:pPr>
            <a:r>
              <a:rPr lang="en-US" dirty="0" smtClean="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4131" y="1659248"/>
            <a:ext cx="2996965" cy="2305833"/>
          </a:xfrm>
          <a:prstGeom prst="rect">
            <a:avLst/>
          </a:prstGeom>
        </p:spPr>
      </p:pic>
    </p:spTree>
    <p:extLst>
      <p:ext uri="{BB962C8B-B14F-4D97-AF65-F5344CB8AC3E}">
        <p14:creationId xmlns:p14="http://schemas.microsoft.com/office/powerpoint/2010/main" val="1151908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689" y="304801"/>
            <a:ext cx="10018713" cy="568037"/>
          </a:xfrm>
        </p:spPr>
        <p:txBody>
          <a:bodyPr>
            <a:normAutofit/>
          </a:bodyPr>
          <a:lstStyle/>
          <a:p>
            <a:pPr algn="ctr"/>
            <a:r>
              <a:rPr lang="en-US" sz="2800"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PROJECT OVERVIEW</a:t>
            </a:r>
            <a:endParaRPr lang="en-IN" sz="2800" b="1" dirty="0"/>
          </a:p>
        </p:txBody>
      </p:sp>
      <p:sp>
        <p:nvSpPr>
          <p:cNvPr id="3" name="Content Placeholder 2"/>
          <p:cNvSpPr>
            <a:spLocks noGrp="1"/>
          </p:cNvSpPr>
          <p:nvPr>
            <p:ph idx="1"/>
          </p:nvPr>
        </p:nvSpPr>
        <p:spPr>
          <a:xfrm>
            <a:off x="1286933" y="999838"/>
            <a:ext cx="10684934" cy="5858162"/>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Mutual Fund Analytics project is an end-to-end data analytics solution developed to analyze historical mutual fund performance and generate meaningful business insights. The project collects, cleans, transforms, and stores financial datasets using Python and SQLite before performing exploratory data analysis and advanced financial analytics. Interactive dashboards were developed in Power BI to visualize key performance indicators, investment trends, and risk metrics. The solution enables investors and business users to compare mutual fund schemes, evaluate financial performance, and make informed investment decisions through an intuitive Business Intelligence platform</a:t>
            </a:r>
            <a:r>
              <a:rPr lang="en-US" sz="20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Key Objectives</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 Build an automated ETL pipeline for financial datasets.</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 Analyse mutual fund performance using Python and SQL.</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 Develop interactive Power BI dashboards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276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799" y="433494"/>
            <a:ext cx="10018713" cy="529046"/>
          </a:xfrm>
        </p:spPr>
        <p:txBody>
          <a:bodyPr>
            <a:normAutofit/>
          </a:bodyPr>
          <a:lstStyle/>
          <a:p>
            <a:pPr algn="ctr"/>
            <a:r>
              <a:rPr lang="en-US" sz="2800" b="1" dirty="0">
                <a:latin typeface="Times New Roman" panose="02020603050405020304" pitchFamily="18" charset="0"/>
                <a:cs typeface="Times New Roman" panose="02020603050405020304" pitchFamily="18" charset="0"/>
              </a:rPr>
              <a:t>INTRODUCTION</a:t>
            </a:r>
            <a:endParaRPr lang="en-IN" sz="2800" b="1" dirty="0"/>
          </a:p>
        </p:txBody>
      </p:sp>
      <p:sp>
        <p:nvSpPr>
          <p:cNvPr id="3" name="Content Placeholder 2"/>
          <p:cNvSpPr>
            <a:spLocks noGrp="1"/>
          </p:cNvSpPr>
          <p:nvPr>
            <p:ph idx="1"/>
          </p:nvPr>
        </p:nvSpPr>
        <p:spPr>
          <a:xfrm>
            <a:off x="1066802" y="1233474"/>
            <a:ext cx="11125198" cy="5108059"/>
          </a:xfrm>
        </p:spPr>
        <p:txBody>
          <a:bodyPr>
            <a:noAutofit/>
          </a:bodyPr>
          <a:lstStyle/>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Mutual funds generate large volumes of financial data that require systematic </a:t>
            </a:r>
            <a:r>
              <a:rPr lang="en-IN" sz="2000" dirty="0" smtClean="0">
                <a:latin typeface="Times New Roman" panose="02020603050405020304" pitchFamily="18" charset="0"/>
                <a:cs typeface="Times New Roman" panose="02020603050405020304" pitchFamily="18" charset="0"/>
              </a:rPr>
              <a:t>analysis. </a:t>
            </a:r>
          </a:p>
          <a:p>
            <a:pPr algn="just">
              <a:lnSpc>
                <a:spcPct val="150000"/>
              </a:lnSpc>
              <a:buFont typeface="Wingdings" panose="05000000000000000000" pitchFamily="2" charset="2"/>
              <a:buChar char="Ø"/>
            </a:pPr>
            <a:r>
              <a:rPr lang="en-IN" sz="2000" dirty="0" smtClean="0">
                <a:latin typeface="Times New Roman" panose="02020603050405020304" pitchFamily="18" charset="0"/>
                <a:cs typeface="Times New Roman" panose="02020603050405020304" pitchFamily="18" charset="0"/>
              </a:rPr>
              <a:t>Comparing </a:t>
            </a:r>
            <a:r>
              <a:rPr lang="en-IN" sz="2000" dirty="0">
                <a:latin typeface="Times New Roman" panose="02020603050405020304" pitchFamily="18" charset="0"/>
                <a:cs typeface="Times New Roman" panose="02020603050405020304" pitchFamily="18" charset="0"/>
              </a:rPr>
              <a:t>fund performance, returns, and investment risk manually is time-consuming</a:t>
            </a:r>
            <a:r>
              <a:rPr lang="en-IN" sz="2000" dirty="0" smtClean="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Automates data collection, cleaning, transformation, and validation using Python</a:t>
            </a:r>
            <a:r>
              <a:rPr lang="en-US" sz="20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Stores financial data in SQLite and retrieves insights using optimized SQL queries</a:t>
            </a:r>
            <a:r>
              <a:rPr lang="en-US" sz="20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Develops </a:t>
            </a:r>
            <a:r>
              <a:rPr lang="en-US" sz="2000" dirty="0">
                <a:latin typeface="Times New Roman" panose="02020603050405020304" pitchFamily="18" charset="0"/>
                <a:cs typeface="Times New Roman" panose="02020603050405020304" pitchFamily="18" charset="0"/>
              </a:rPr>
              <a:t>interactive Power BI dashboards to visualize fund performance, KPIs, and investment trends.</a:t>
            </a:r>
          </a:p>
          <a:p>
            <a:pPr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Performs </a:t>
            </a:r>
            <a:r>
              <a:rPr lang="en-US" sz="2000" dirty="0">
                <a:latin typeface="Times New Roman" panose="02020603050405020304" pitchFamily="18" charset="0"/>
                <a:cs typeface="Times New Roman" panose="02020603050405020304" pitchFamily="18" charset="0"/>
              </a:rPr>
              <a:t>advanced analytics using CAGR, Sharpe Ratio, </a:t>
            </a:r>
            <a:r>
              <a:rPr lang="en-US" sz="2000" dirty="0" err="1">
                <a:latin typeface="Times New Roman" panose="02020603050405020304" pitchFamily="18" charset="0"/>
                <a:cs typeface="Times New Roman" panose="02020603050405020304" pitchFamily="18" charset="0"/>
              </a:rPr>
              <a:t>VaR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CVaR</a:t>
            </a:r>
            <a:r>
              <a:rPr lang="en-US" sz="2000" dirty="0">
                <a:latin typeface="Times New Roman" panose="02020603050405020304" pitchFamily="18" charset="0"/>
                <a:cs typeface="Times New Roman" panose="02020603050405020304" pitchFamily="18" charset="0"/>
              </a:rPr>
              <a:t>, and Rolling Sharpe Ratio</a:t>
            </a:r>
            <a:r>
              <a:rPr lang="en-US" sz="20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Includes Investor Cohort Analysis and SIP Continuity Analysis for deeper investment insights.</a:t>
            </a:r>
            <a:r>
              <a:rPr lang="en-IN" sz="2000" dirty="0" smtClean="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Supports data-driven investment decisions through Business Intelligence and financial analytics.</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4365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5191" y="494878"/>
            <a:ext cx="8911687" cy="696690"/>
          </a:xfrm>
        </p:spPr>
        <p:txBody>
          <a:bodyPr>
            <a:noAutofit/>
          </a:bodyPr>
          <a:lstStyle/>
          <a:p>
            <a:pPr algn="ctr"/>
            <a:r>
              <a:rPr lang="en-US" sz="2800" b="1" dirty="0" smtClean="0">
                <a:latin typeface="Times New Roman" panose="02020603050405020304" pitchFamily="18" charset="0"/>
                <a:ea typeface="Calibri" panose="020F0502020204030204" pitchFamily="34" charset="0"/>
                <a:cs typeface="Times New Roman" panose="02020603050405020304" pitchFamily="18" charset="0"/>
              </a:rPr>
              <a:t>OBJECTIVE</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
            </a:r>
            <a:br>
              <a:rPr lang="en-US" sz="2800" dirty="0" smtClean="0">
                <a:latin typeface="Times New Roman" panose="02020603050405020304" pitchFamily="18" charset="0"/>
                <a:ea typeface="Calibri" panose="020F0502020204030204" pitchFamily="34" charset="0"/>
                <a:cs typeface="Times New Roman" panose="02020603050405020304" pitchFamily="18" charset="0"/>
              </a:rPr>
            </a:br>
            <a:endParaRPr lang="en-IN" sz="2800" dirty="0"/>
          </a:p>
        </p:txBody>
      </p:sp>
      <p:sp>
        <p:nvSpPr>
          <p:cNvPr id="7" name="Rectangle 3"/>
          <p:cNvSpPr>
            <a:spLocks noChangeArrowheads="1"/>
          </p:cNvSpPr>
          <p:nvPr/>
        </p:nvSpPr>
        <p:spPr bwMode="auto">
          <a:xfrm>
            <a:off x="1270001" y="1191568"/>
            <a:ext cx="10501943"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Develop an end-to-end Mutual Fund Analytics solution using Python, SQL, SQLite, and Power BI</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Build </a:t>
            </a:r>
            <a:r>
              <a:rPr lang="en-US" altLang="en-US" sz="2000" dirty="0">
                <a:latin typeface="Times New Roman" panose="02020603050405020304" pitchFamily="18" charset="0"/>
                <a:cs typeface="Times New Roman" panose="02020603050405020304" pitchFamily="18" charset="0"/>
              </a:rPr>
              <a:t>an automated ETL pipeline for collecting, cleaning, transforming, and validating financial data</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Analyze </a:t>
            </a:r>
            <a:r>
              <a:rPr lang="en-US" altLang="en-US" sz="2000" dirty="0">
                <a:latin typeface="Times New Roman" panose="02020603050405020304" pitchFamily="18" charset="0"/>
                <a:cs typeface="Times New Roman" panose="02020603050405020304" pitchFamily="18" charset="0"/>
              </a:rPr>
              <a:t>historical NAV data to evaluate fund performance, returns, and investment risk</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Calculate </a:t>
            </a:r>
            <a:r>
              <a:rPr lang="en-US" altLang="en-US" sz="2000" dirty="0">
                <a:latin typeface="Times New Roman" panose="02020603050405020304" pitchFamily="18" charset="0"/>
                <a:cs typeface="Times New Roman" panose="02020603050405020304" pitchFamily="18" charset="0"/>
              </a:rPr>
              <a:t>key financial metrics such as CAGR, Sharpe Ratio, </a:t>
            </a:r>
            <a:r>
              <a:rPr lang="en-US" altLang="en-US" sz="2000" dirty="0" err="1">
                <a:latin typeface="Times New Roman" panose="02020603050405020304" pitchFamily="18" charset="0"/>
                <a:cs typeface="Times New Roman" panose="02020603050405020304" pitchFamily="18" charset="0"/>
              </a:rPr>
              <a:t>Sortino</a:t>
            </a:r>
            <a:r>
              <a:rPr lang="en-US" altLang="en-US" sz="2000" dirty="0">
                <a:latin typeface="Times New Roman" panose="02020603050405020304" pitchFamily="18" charset="0"/>
                <a:cs typeface="Times New Roman" panose="02020603050405020304" pitchFamily="18" charset="0"/>
              </a:rPr>
              <a:t> Ratio, </a:t>
            </a:r>
            <a:r>
              <a:rPr lang="en-US" altLang="en-US" sz="2000" dirty="0" err="1">
                <a:latin typeface="Times New Roman" panose="02020603050405020304" pitchFamily="18" charset="0"/>
                <a:cs typeface="Times New Roman" panose="02020603050405020304" pitchFamily="18" charset="0"/>
              </a:rPr>
              <a:t>VaR</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CVaR</a:t>
            </a:r>
            <a:r>
              <a:rPr lang="en-US" altLang="en-US" sz="2000" dirty="0">
                <a:latin typeface="Times New Roman" panose="02020603050405020304" pitchFamily="18" charset="0"/>
                <a:cs typeface="Times New Roman" panose="02020603050405020304" pitchFamily="18" charset="0"/>
              </a:rPr>
              <a:t>, and Rolling Sharpe Ratio</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Design </a:t>
            </a:r>
            <a:r>
              <a:rPr lang="en-US" altLang="en-US" sz="2000" dirty="0">
                <a:latin typeface="Times New Roman" panose="02020603050405020304" pitchFamily="18" charset="0"/>
                <a:cs typeface="Times New Roman" panose="02020603050405020304" pitchFamily="18" charset="0"/>
              </a:rPr>
              <a:t>interactive Power BI dashboards with KPIs, filters, slicers, and visualizations</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Perform </a:t>
            </a:r>
            <a:r>
              <a:rPr lang="en-US" altLang="en-US" sz="2000" dirty="0">
                <a:latin typeface="Times New Roman" panose="02020603050405020304" pitchFamily="18" charset="0"/>
                <a:cs typeface="Times New Roman" panose="02020603050405020304" pitchFamily="18" charset="0"/>
              </a:rPr>
              <a:t>advanced analytics including Investor Cohort Analysis, SIP Continuity Analysis, and Fund Recommendation</a:t>
            </a:r>
            <a:r>
              <a:rPr lang="en-US" altLang="en-US" sz="2000" dirty="0" smtClean="0">
                <a:latin typeface="Times New Roman" panose="02020603050405020304" pitchFamily="18" charset="0"/>
                <a:cs typeface="Times New Roman" panose="02020603050405020304" pitchFamily="18" charset="0"/>
              </a:rPr>
              <a: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smtClean="0">
                <a:latin typeface="Times New Roman" panose="02020603050405020304" pitchFamily="18" charset="0"/>
                <a:cs typeface="Times New Roman" panose="02020603050405020304" pitchFamily="18" charset="0"/>
              </a:rPr>
              <a:t>Generate </a:t>
            </a:r>
            <a:r>
              <a:rPr lang="en-US" altLang="en-US" sz="2000" dirty="0">
                <a:latin typeface="Times New Roman" panose="02020603050405020304" pitchFamily="18" charset="0"/>
                <a:cs typeface="Times New Roman" panose="02020603050405020304" pitchFamily="18" charset="0"/>
              </a:rPr>
              <a:t>meaningful business insights to support data-driven investment decisions.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3235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176" y="757404"/>
            <a:ext cx="10018713" cy="487196"/>
          </a:xfrm>
        </p:spPr>
        <p:txBody>
          <a:bodyPr>
            <a:noAutofit/>
          </a:bodyPr>
          <a:lstStyle/>
          <a:p>
            <a:pPr algn="ctr"/>
            <a:r>
              <a:rPr lang="en-US" sz="2800" b="1" dirty="0" smtClean="0">
                <a:latin typeface="Times New Roman" panose="02020603050405020304" pitchFamily="18" charset="0"/>
                <a:cs typeface="Times New Roman" panose="02020603050405020304" pitchFamily="18" charset="0"/>
              </a:rPr>
              <a:t>TECHNOLOGY STACK</a:t>
            </a:r>
            <a:r>
              <a:rPr lang="en-US" sz="2800" b="1" dirty="0">
                <a:latin typeface="Times New Roman" pitchFamily="18" charset="0"/>
                <a:cs typeface="Times New Roman" pitchFamily="18" charset="0"/>
              </a:rPr>
              <a:t/>
            </a:r>
            <a:br>
              <a:rPr lang="en-US" sz="2800" b="1" dirty="0">
                <a:latin typeface="Times New Roman" pitchFamily="18" charset="0"/>
                <a:cs typeface="Times New Roman" pitchFamily="18" charset="0"/>
              </a:rPr>
            </a:b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95773084"/>
              </p:ext>
            </p:extLst>
          </p:nvPr>
        </p:nvGraphicFramePr>
        <p:xfrm>
          <a:off x="1942832" y="1889971"/>
          <a:ext cx="8915400" cy="3749040"/>
        </p:xfrm>
        <a:graphic>
          <a:graphicData uri="http://schemas.openxmlformats.org/drawingml/2006/table">
            <a:tbl>
              <a:tblPr/>
              <a:tblGrid>
                <a:gridCol w="4457700"/>
                <a:gridCol w="4457700"/>
              </a:tblGrid>
              <a:tr h="0">
                <a:tc>
                  <a:txBody>
                    <a:bodyPr/>
                    <a:lstStyle/>
                    <a:p>
                      <a:r>
                        <a:rPr lang="en-IN" b="1" dirty="0"/>
                        <a:t>Technology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a:t>Purpose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Python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ETL Pipeline, Data Cleaning &amp;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Pandas &amp; NumPy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 Manipulation &amp; Numerical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Matplotlib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 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SQL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 Querying &amp;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SQLite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Database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Power BI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Dashboard Development &amp; Business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Git &amp; GitHub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Version Control &amp;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Rectangle 4"/>
          <p:cNvSpPr/>
          <p:nvPr/>
        </p:nvSpPr>
        <p:spPr>
          <a:xfrm>
            <a:off x="1826550" y="5818201"/>
            <a:ext cx="5864106" cy="369332"/>
          </a:xfrm>
          <a:prstGeom prst="rect">
            <a:avLst/>
          </a:prstGeom>
        </p:spPr>
        <p:txBody>
          <a:bodyPr wrap="none">
            <a:spAutoFit/>
          </a:bodyPr>
          <a:lstStyle/>
          <a:p>
            <a:pPr marL="285750" indent="-285750">
              <a:buFont typeface="Wingdings" panose="05000000000000000000" pitchFamily="2" charset="2"/>
              <a:buChar char="q"/>
            </a:pPr>
            <a:r>
              <a:rPr lang="en-US" b="1" dirty="0"/>
              <a:t>Development Tools:</a:t>
            </a:r>
            <a:r>
              <a:rPr lang="en-US" dirty="0"/>
              <a:t> VS Code, Jupyter Notebook</a:t>
            </a:r>
            <a:endParaRPr lang="en-IN" dirty="0"/>
          </a:p>
        </p:txBody>
      </p:sp>
    </p:spTree>
    <p:extLst>
      <p:ext uri="{BB962C8B-B14F-4D97-AF65-F5344CB8AC3E}">
        <p14:creationId xmlns:p14="http://schemas.microsoft.com/office/powerpoint/2010/main" val="1296716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42" y="208039"/>
            <a:ext cx="10018713" cy="585762"/>
          </a:xfrm>
        </p:spPr>
        <p:txBody>
          <a:bodyPr>
            <a:normAutofit/>
          </a:bodyPr>
          <a:lstStyle/>
          <a:p>
            <a:pPr algn="ctr"/>
            <a:r>
              <a:rPr lang="en-US" sz="2800" b="1" dirty="0"/>
              <a:t>SYSTEM ARCHITECTURE</a:t>
            </a:r>
            <a:endParaRPr lang="en-IN" sz="2800" b="1"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2818337" y="793800"/>
            <a:ext cx="3523197" cy="5952067"/>
          </a:xfrm>
          <a:prstGeom prst="rect">
            <a:avLst/>
          </a:prstGeom>
          <a:ln>
            <a:noFill/>
          </a:ln>
          <a:effectLst/>
          <a:scene3d>
            <a:camera prst="orthographicFront">
              <a:rot lat="0" lon="0" rev="0"/>
            </a:camera>
            <a:lightRig rig="contrasting" dir="t">
              <a:rot lat="0" lon="0" rev="7800000"/>
            </a:lightRig>
          </a:scene3d>
          <a:sp3d>
            <a:bevelT w="139700" h="139700"/>
          </a:sp3d>
        </p:spPr>
      </p:pic>
      <p:sp>
        <p:nvSpPr>
          <p:cNvPr id="9" name="Rectangle 4"/>
          <p:cNvSpPr>
            <a:spLocks noChangeArrowheads="1"/>
          </p:cNvSpPr>
          <p:nvPr/>
        </p:nvSpPr>
        <p:spPr bwMode="auto">
          <a:xfrm>
            <a:off x="6341534" y="400540"/>
            <a:ext cx="5850466" cy="6345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Collects raw mutual fund datasets from CSV files.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Cleans, transforms, and validates data using Python ETL scripts.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Stores processed data in an SQLite relational database.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Retrieves and analyzes data using optimized SQL queries.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Performs financial analytics using Python.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Creates interactive Power BI dashboards for visualization. </a:t>
            </a:r>
          </a:p>
          <a:p>
            <a:pPr marL="342900" marR="0" lvl="0" indent="-342900" algn="just" fontAlgn="base">
              <a:lnSpc>
                <a:spcPct val="150000"/>
              </a:lnSpc>
              <a:spcBef>
                <a:spcPts val="1000"/>
              </a:spcBef>
              <a:buClr>
                <a:schemeClr val="accent1"/>
              </a:buClr>
              <a:buSzTx/>
              <a:buFont typeface="Wingdings" panose="05000000000000000000" pitchFamily="2" charset="2"/>
              <a:buChar char="Ø"/>
              <a:tabLst/>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Generates business reports and investment insights. </a:t>
            </a:r>
          </a:p>
        </p:txBody>
      </p:sp>
    </p:spTree>
    <p:extLst>
      <p:ext uri="{BB962C8B-B14F-4D97-AF65-F5344CB8AC3E}">
        <p14:creationId xmlns:p14="http://schemas.microsoft.com/office/powerpoint/2010/main" val="16813003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726" y="459001"/>
            <a:ext cx="7729728" cy="658599"/>
          </a:xfrm>
        </p:spPr>
        <p:txBody>
          <a:bodyPr>
            <a:normAutofit/>
          </a:bodyPr>
          <a:lstStyle/>
          <a:p>
            <a:pPr algn="ctr"/>
            <a:r>
              <a:rPr lang="en-US" sz="2800" b="1" dirty="0">
                <a:latin typeface="Arial" panose="020B0604020202020204" pitchFamily="34" charset="0"/>
                <a:cs typeface="Arial" panose="020B0604020202020204" pitchFamily="34" charset="0"/>
              </a:rPr>
              <a:t>ETL PIPELINE</a:t>
            </a:r>
            <a:endParaRPr lang="en-IN" sz="2800" b="1" dirty="0">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67826" y="1117600"/>
            <a:ext cx="3225800" cy="5333999"/>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Rectangle 1"/>
          <p:cNvSpPr>
            <a:spLocks noChangeArrowheads="1"/>
          </p:cNvSpPr>
          <p:nvPr/>
        </p:nvSpPr>
        <p:spPr bwMode="auto">
          <a:xfrm>
            <a:off x="5215467" y="1976440"/>
            <a:ext cx="697653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b="1" dirty="0" smtClean="0">
                <a:latin typeface="Times New Roman" panose="02020603050405020304" pitchFamily="18" charset="0"/>
                <a:cs typeface="Times New Roman" panose="02020603050405020304" pitchFamily="18" charset="0"/>
              </a:rPr>
              <a:t>Extract</a:t>
            </a:r>
            <a:r>
              <a:rPr lang="en-US" altLang="en-US" sz="2000" dirty="0">
                <a:latin typeface="Times New Roman" panose="02020603050405020304" pitchFamily="18" charset="0"/>
                <a:cs typeface="Times New Roman" panose="02020603050405020304" pitchFamily="18" charset="0"/>
              </a:rPr>
              <a:t>: Imported 10+ mutual fund datasets from CSV files.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b="1" dirty="0" smtClean="0">
                <a:latin typeface="Times New Roman" panose="02020603050405020304" pitchFamily="18" charset="0"/>
                <a:cs typeface="Times New Roman" panose="02020603050405020304" pitchFamily="18" charset="0"/>
              </a:rPr>
              <a:t>Transform</a:t>
            </a:r>
            <a:r>
              <a:rPr lang="en-US" altLang="en-US" sz="2000" dirty="0" smtClean="0">
                <a:latin typeface="Times New Roman" panose="02020603050405020304" pitchFamily="18" charset="0"/>
                <a:cs typeface="Times New Roman" panose="02020603050405020304" pitchFamily="18" charset="0"/>
              </a:rPr>
              <a:t>: Cleaned, validated</a:t>
            </a:r>
            <a:r>
              <a:rPr lang="en-US" altLang="en-US" sz="2000" dirty="0">
                <a:latin typeface="Times New Roman" panose="02020603050405020304" pitchFamily="18" charset="0"/>
                <a:cs typeface="Times New Roman" panose="02020603050405020304" pitchFamily="18" charset="0"/>
              </a:rPr>
              <a:t>, formatted, and standardized financial data using Python.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b="1" dirty="0">
                <a:latin typeface="Times New Roman" panose="02020603050405020304" pitchFamily="18" charset="0"/>
                <a:cs typeface="Times New Roman" panose="02020603050405020304" pitchFamily="18" charset="0"/>
              </a:rPr>
              <a:t>Load:</a:t>
            </a:r>
            <a:r>
              <a:rPr lang="en-US" altLang="en-US" sz="2000" dirty="0">
                <a:latin typeface="Times New Roman" panose="02020603050405020304" pitchFamily="18" charset="0"/>
                <a:cs typeface="Times New Roman" panose="02020603050405020304" pitchFamily="18" charset="0"/>
              </a:rPr>
              <a:t> Loaded processed data into an SQLite database for efficient querying.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Built reusable ETL scripts for automated data processing.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Improved data quality before analytics and dashboard development. </a:t>
            </a:r>
          </a:p>
        </p:txBody>
      </p:sp>
    </p:spTree>
    <p:extLst>
      <p:ext uri="{BB962C8B-B14F-4D97-AF65-F5344CB8AC3E}">
        <p14:creationId xmlns:p14="http://schemas.microsoft.com/office/powerpoint/2010/main" val="7407410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828" y="642698"/>
            <a:ext cx="10018713" cy="616527"/>
          </a:xfrm>
        </p:spPr>
        <p:txBody>
          <a:bodyPr>
            <a:normAutofit fontScale="90000"/>
          </a:bodyPr>
          <a:lstStyle/>
          <a:p>
            <a:pPr algn="ctr"/>
            <a:r>
              <a:rPr lang="en-IN" sz="3200" b="1" dirty="0" smtClean="0">
                <a:latin typeface="Times New Roman" panose="02020603050405020304" pitchFamily="18" charset="0"/>
                <a:cs typeface="Times New Roman" panose="02020603050405020304" pitchFamily="18" charset="0"/>
              </a:rPr>
              <a:t>DATABASE DESIGN</a:t>
            </a:r>
            <a:r>
              <a:rPr lang="en-IN" sz="3200" b="1" dirty="0">
                <a:latin typeface="Times New Roman" panose="02020603050405020304" pitchFamily="18" charset="0"/>
                <a:cs typeface="Times New Roman" panose="02020603050405020304" pitchFamily="18" charset="0"/>
              </a:rPr>
              <a:t/>
            </a:r>
            <a:br>
              <a:rPr lang="en-IN" sz="3200" b="1" dirty="0">
                <a:latin typeface="Times New Roman" panose="02020603050405020304" pitchFamily="18" charset="0"/>
                <a:cs typeface="Times New Roman" panose="02020603050405020304" pitchFamily="18" charset="0"/>
              </a:rPr>
            </a:br>
            <a:endParaRPr lang="en-IN" sz="3200" dirty="0"/>
          </a:p>
        </p:txBody>
      </p:sp>
      <p:sp>
        <p:nvSpPr>
          <p:cNvPr id="3" name="Content Placeholder 2"/>
          <p:cNvSpPr>
            <a:spLocks noGrp="1"/>
          </p:cNvSpPr>
          <p:nvPr>
            <p:ph idx="1"/>
          </p:nvPr>
        </p:nvSpPr>
        <p:spPr>
          <a:xfrm>
            <a:off x="1705984" y="2015835"/>
            <a:ext cx="9031290" cy="3124201"/>
          </a:xfrm>
        </p:spPr>
        <p:txBody>
          <a:bodyPr>
            <a:noAutofit/>
          </a:bodyPr>
          <a:lstStyle/>
          <a:p>
            <a:pPr marL="0" lvl="0" indent="0">
              <a:lnSpc>
                <a:spcPct val="150000"/>
              </a:lnSpc>
              <a:buNone/>
            </a:pPr>
            <a:r>
              <a:rPr lang="en-US" sz="1500" dirty="0">
                <a:latin typeface="Arial" panose="020B0604020202020204" pitchFamily="34" charset="0"/>
                <a:cs typeface="Arial" panose="020B0604020202020204" pitchFamily="34" charset="0"/>
              </a:rPr>
              <a:t>.</a:t>
            </a:r>
            <a:endParaRPr lang="en-IN" sz="1500" dirty="0">
              <a:latin typeface="Arial" panose="020B0604020202020204" pitchFamily="34" charset="0"/>
              <a:cs typeface="Arial" panose="020B0604020202020204" pitchFamily="34" charset="0"/>
            </a:endParaRPr>
          </a:p>
          <a:p>
            <a:pPr marL="0" indent="0">
              <a:lnSpc>
                <a:spcPct val="150000"/>
              </a:lnSpc>
              <a:buNone/>
            </a:pPr>
            <a:endParaRPr lang="en-IN" sz="15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777828" y="1259225"/>
            <a:ext cx="5131905" cy="5319375"/>
          </a:xfrm>
          <a:prstGeom prst="rect">
            <a:avLst/>
          </a:prstGeom>
        </p:spPr>
      </p:pic>
      <p:sp>
        <p:nvSpPr>
          <p:cNvPr id="6" name="Rectangle 1"/>
          <p:cNvSpPr>
            <a:spLocks noChangeArrowheads="1"/>
          </p:cNvSpPr>
          <p:nvPr/>
        </p:nvSpPr>
        <p:spPr bwMode="auto">
          <a:xfrm>
            <a:off x="6028268" y="1259225"/>
            <a:ext cx="5938064"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Uses SQLite as the relational database.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Implements a Star Schema with Dimension and Fact tables.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err="1">
                <a:latin typeface="Times New Roman" panose="02020603050405020304" pitchFamily="18" charset="0"/>
                <a:cs typeface="Times New Roman" panose="02020603050405020304" pitchFamily="18" charset="0"/>
              </a:rPr>
              <a:t>dim_fund</a:t>
            </a:r>
            <a:r>
              <a:rPr lang="en-US" altLang="en-US" sz="2000" dirty="0">
                <a:latin typeface="Times New Roman" panose="02020603050405020304" pitchFamily="18" charset="0"/>
                <a:cs typeface="Times New Roman" panose="02020603050405020304" pitchFamily="18" charset="0"/>
              </a:rPr>
              <a:t> stores mutual fund information.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err="1">
                <a:latin typeface="Times New Roman" panose="02020603050405020304" pitchFamily="18" charset="0"/>
                <a:cs typeface="Times New Roman" panose="02020603050405020304" pitchFamily="18" charset="0"/>
              </a:rPr>
              <a:t>dim_date</a:t>
            </a:r>
            <a:r>
              <a:rPr lang="en-US" altLang="en-US" sz="2000" dirty="0">
                <a:latin typeface="Times New Roman" panose="02020603050405020304" pitchFamily="18" charset="0"/>
                <a:cs typeface="Times New Roman" panose="02020603050405020304" pitchFamily="18" charset="0"/>
              </a:rPr>
              <a:t> stores date attributes for time-based analysis.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Fact tables store NAV, Transactions, AUM, and Performance data.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Optimized relationships enable fast SQL queries and Power BI reporting. </a:t>
            </a:r>
          </a:p>
        </p:txBody>
      </p:sp>
    </p:spTree>
    <p:extLst>
      <p:ext uri="{BB962C8B-B14F-4D97-AF65-F5344CB8AC3E}">
        <p14:creationId xmlns:p14="http://schemas.microsoft.com/office/powerpoint/2010/main" val="2191907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42806" y="344380"/>
            <a:ext cx="6505500"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POWER BI DASHBOARD OVERVIEW</a:t>
            </a:r>
            <a:endParaRPr lang="en-US" b="1" dirty="0"/>
          </a:p>
        </p:txBody>
      </p:sp>
      <p:pic>
        <p:nvPicPr>
          <p:cNvPr id="3" name="Picture 2"/>
          <p:cNvPicPr>
            <a:picLocks noChangeAspect="1"/>
          </p:cNvPicPr>
          <p:nvPr/>
        </p:nvPicPr>
        <p:blipFill rotWithShape="1">
          <a:blip r:embed="rId3"/>
          <a:srcRect l="386" t="19052" r="33334" b="8107"/>
          <a:stretch/>
        </p:blipFill>
        <p:spPr>
          <a:xfrm>
            <a:off x="495422" y="1405467"/>
            <a:ext cx="5300134" cy="4274992"/>
          </a:xfrm>
          <a:prstGeom prst="rect">
            <a:avLst/>
          </a:prstGeom>
        </p:spPr>
      </p:pic>
      <p:sp>
        <p:nvSpPr>
          <p:cNvPr id="4" name="Rectangle 1"/>
          <p:cNvSpPr>
            <a:spLocks noChangeArrowheads="1"/>
          </p:cNvSpPr>
          <p:nvPr/>
        </p:nvSpPr>
        <p:spPr bwMode="auto">
          <a:xfrm>
            <a:off x="5977467" y="1617808"/>
            <a:ext cx="608753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Displays key industry KPIs such as AUM, SIP Inflows, Folios, and Total Schemes.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Visualizes Industry AUM Growth (2022–2025).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Compares Assets Under Management (AUM) across major fund houses.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Provides interactive filters for better analysis.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Enables quick navigation to detailed analytics pages.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Supports data-driven investment decision making. </a:t>
            </a:r>
          </a:p>
        </p:txBody>
      </p:sp>
    </p:spTree>
    <p:extLst>
      <p:ext uri="{BB962C8B-B14F-4D97-AF65-F5344CB8AC3E}">
        <p14:creationId xmlns:p14="http://schemas.microsoft.com/office/powerpoint/2010/main" val="24155697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11784" y="632691"/>
            <a:ext cx="9961418" cy="523220"/>
          </a:xfrm>
          <a:prstGeom prst="rect">
            <a:avLst/>
          </a:prstGeom>
          <a:noFill/>
        </p:spPr>
        <p:txBody>
          <a:bodyPr wrap="square" rtlCol="0">
            <a:spAutoFit/>
          </a:bodyPr>
          <a:lstStyle/>
          <a:p>
            <a:pPr algn="ctr"/>
            <a:r>
              <a:rPr lang="en-US" sz="2800" dirty="0" smtClean="0">
                <a:latin typeface="Arial" panose="020B0604020202020204" pitchFamily="34" charset="0"/>
                <a:cs typeface="Arial" panose="020B0604020202020204" pitchFamily="34" charset="0"/>
              </a:rPr>
              <a:t>FUND PERFORMANCE DASHBOARD</a:t>
            </a:r>
            <a:endParaRPr lang="en-IN" sz="28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rotWithShape="1">
          <a:blip r:embed="rId2"/>
          <a:srcRect t="4558" r="30068" b="7914"/>
          <a:stretch/>
        </p:blipFill>
        <p:spPr>
          <a:xfrm>
            <a:off x="651934" y="1303867"/>
            <a:ext cx="5664200" cy="5147734"/>
          </a:xfrm>
          <a:prstGeom prst="rect">
            <a:avLst/>
          </a:prstGeom>
        </p:spPr>
      </p:pic>
      <p:sp>
        <p:nvSpPr>
          <p:cNvPr id="3" name="Rectangle 1"/>
          <p:cNvSpPr>
            <a:spLocks noChangeArrowheads="1"/>
          </p:cNvSpPr>
          <p:nvPr/>
        </p:nvSpPr>
        <p:spPr bwMode="auto">
          <a:xfrm>
            <a:off x="6438293" y="1577709"/>
            <a:ext cx="513490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Displays CAGR, 1-Year, 3-Year, and 5-Year Returns.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Compares performance across different mutual fund schemes.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Shows risk-adjusted performance metrics.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Identifies top-performing funds. </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Helps investors evaluate long-term growth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696038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23733" y="397379"/>
            <a:ext cx="6485467"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INVESTOR ANALYSIS DASHBOARD</a:t>
            </a:r>
            <a:endParaRPr lang="en-US"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rotWithShape="1">
          <a:blip r:embed="rId2"/>
          <a:srcRect t="4691" r="30556" b="7531"/>
          <a:stretch/>
        </p:blipFill>
        <p:spPr>
          <a:xfrm>
            <a:off x="635000" y="1351486"/>
            <a:ext cx="5698067" cy="5215468"/>
          </a:xfrm>
          <a:prstGeom prst="rect">
            <a:avLst/>
          </a:prstGeom>
        </p:spPr>
      </p:pic>
      <p:sp>
        <p:nvSpPr>
          <p:cNvPr id="5" name="Rectangle 1"/>
          <p:cNvSpPr>
            <a:spLocks noChangeArrowheads="1"/>
          </p:cNvSpPr>
          <p:nvPr/>
        </p:nvSpPr>
        <p:spPr bwMode="auto">
          <a:xfrm>
            <a:off x="6527800" y="2648059"/>
            <a:ext cx="5167056" cy="2622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Analyzes investor transactions and behavior.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Shows investment patterns over time.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Performs Investor Cohort Analysis.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Tracks investor retention and engagement. </a:t>
            </a:r>
          </a:p>
          <a:p>
            <a:pPr marL="342900" marR="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Supports customer segmentation. </a:t>
            </a:r>
          </a:p>
        </p:txBody>
      </p:sp>
    </p:spTree>
    <p:extLst>
      <p:ext uri="{BB962C8B-B14F-4D97-AF65-F5344CB8AC3E}">
        <p14:creationId xmlns:p14="http://schemas.microsoft.com/office/powerpoint/2010/main" val="19609672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7933" y="454230"/>
            <a:ext cx="9599958" cy="633549"/>
          </a:xfrm>
        </p:spPr>
        <p:txBody>
          <a:bodyPr>
            <a:normAutofit fontScale="90000"/>
          </a:bodyPr>
          <a:lstStyle/>
          <a:p>
            <a:pPr algn="ctr"/>
            <a:r>
              <a:rPr lang="en-US" sz="3100"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SIP &amp; MARKET TREND ANALYSIS</a:t>
            </a:r>
            <a:r>
              <a:rPr lang="en-IN" sz="3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3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endParaRPr lang="en-IN" sz="3200" dirty="0">
              <a:solidFill>
                <a:schemeClr val="tx1"/>
              </a:solidFill>
            </a:endParaRPr>
          </a:p>
        </p:txBody>
      </p:sp>
      <p:pic>
        <p:nvPicPr>
          <p:cNvPr id="5" name="Picture 4"/>
          <p:cNvPicPr>
            <a:picLocks noChangeAspect="1"/>
          </p:cNvPicPr>
          <p:nvPr/>
        </p:nvPicPr>
        <p:blipFill rotWithShape="1">
          <a:blip r:embed="rId2"/>
          <a:srcRect t="5004" r="30252" b="7673"/>
          <a:stretch/>
        </p:blipFill>
        <p:spPr>
          <a:xfrm>
            <a:off x="690928" y="1409513"/>
            <a:ext cx="5912096" cy="5300134"/>
          </a:xfrm>
          <a:prstGeom prst="rect">
            <a:avLst/>
          </a:prstGeom>
        </p:spPr>
      </p:pic>
      <p:sp>
        <p:nvSpPr>
          <p:cNvPr id="6" name="Rectangle 5"/>
          <p:cNvSpPr/>
          <p:nvPr/>
        </p:nvSpPr>
        <p:spPr>
          <a:xfrm>
            <a:off x="6603024" y="2886919"/>
            <a:ext cx="4510863" cy="2345322"/>
          </a:xfrm>
          <a:prstGeom prst="rect">
            <a:avLst/>
          </a:prstGeom>
        </p:spPr>
        <p:txBody>
          <a:bodyPr wrap="square">
            <a:spAutoFit/>
          </a:bodyPr>
          <a:lstStyle/>
          <a:p>
            <a:pPr marL="342900"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Visualizes monthly SIP inflows. </a:t>
            </a:r>
          </a:p>
          <a:p>
            <a:pPr marL="342900"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Shows industry growth trends. </a:t>
            </a:r>
          </a:p>
          <a:p>
            <a:pPr marL="342900"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Compares category-wise fund inflows. </a:t>
            </a:r>
          </a:p>
          <a:p>
            <a:pPr marL="342900"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Identifies market investment patterns. </a:t>
            </a:r>
          </a:p>
          <a:p>
            <a:pPr marL="342900"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Supports trend forecasting. </a:t>
            </a:r>
          </a:p>
        </p:txBody>
      </p:sp>
    </p:spTree>
    <p:extLst>
      <p:ext uri="{BB962C8B-B14F-4D97-AF65-F5344CB8AC3E}">
        <p14:creationId xmlns:p14="http://schemas.microsoft.com/office/powerpoint/2010/main" val="11999272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175" y="516935"/>
            <a:ext cx="10018713" cy="855617"/>
          </a:xfrm>
        </p:spPr>
        <p:txBody>
          <a:bodyPr>
            <a:noAutofit/>
          </a:bodyPr>
          <a:lstStyle/>
          <a:p>
            <a:pPr algn="ctr"/>
            <a:r>
              <a:rPr lang="en-US" sz="2800" b="1" dirty="0" smtClean="0">
                <a:latin typeface="Arial" panose="020B0604020202020204" pitchFamily="34" charset="0"/>
                <a:ea typeface="Times New Roman" panose="02020603050405020304" pitchFamily="18" charset="0"/>
                <a:cs typeface="Arial" panose="020B0604020202020204" pitchFamily="34" charset="0"/>
              </a:rPr>
              <a:t>FUND DETAILS ANALYSIS </a:t>
            </a:r>
            <a:r>
              <a:rPr lang="en-IN" sz="2800" dirty="0">
                <a:latin typeface="Arial" panose="020B0604020202020204" pitchFamily="34" charset="0"/>
                <a:ea typeface="Times New Roman" panose="02020603050405020304" pitchFamily="18" charset="0"/>
                <a:cs typeface="Arial" panose="020B0604020202020204" pitchFamily="34" charset="0"/>
              </a:rPr>
              <a:t/>
            </a:r>
            <a:br>
              <a:rPr lang="en-IN" sz="2800" dirty="0">
                <a:latin typeface="Arial" panose="020B0604020202020204" pitchFamily="34" charset="0"/>
                <a:ea typeface="Times New Roman" panose="02020603050405020304" pitchFamily="18"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rotWithShape="1">
          <a:blip r:embed="rId2"/>
          <a:srcRect t="4814" r="30324" b="8025"/>
          <a:stretch/>
        </p:blipFill>
        <p:spPr>
          <a:xfrm>
            <a:off x="431800" y="1372552"/>
            <a:ext cx="6206067" cy="4792134"/>
          </a:xfrm>
          <a:prstGeom prst="rect">
            <a:avLst/>
          </a:prstGeom>
        </p:spPr>
      </p:pic>
      <p:sp>
        <p:nvSpPr>
          <p:cNvPr id="8" name="Rectangle 1"/>
          <p:cNvSpPr>
            <a:spLocks noChangeArrowheads="1"/>
          </p:cNvSpPr>
          <p:nvPr/>
        </p:nvSpPr>
        <p:spPr bwMode="auto">
          <a:xfrm>
            <a:off x="6637867" y="2104873"/>
            <a:ext cx="537633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lvl="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Displays complete scheme information. </a:t>
            </a:r>
          </a:p>
          <a:p>
            <a:pPr marL="342900" marR="0" lvl="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Includes expense ratio, AUM, returns, and risk grade. </a:t>
            </a:r>
          </a:p>
          <a:p>
            <a:pPr marL="342900" marR="0" lvl="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Enables scheme-level comparison. </a:t>
            </a:r>
          </a:p>
          <a:p>
            <a:pPr marL="342900" marR="0" lvl="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Helps evaluate individual mutual funds. </a:t>
            </a:r>
          </a:p>
          <a:p>
            <a:pPr marL="342900" marR="0" lvl="0" indent="-342900" algn="just" defTabSz="914400" eaLnBrk="0" fontAlgn="base"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Supports informed investment decisions. </a:t>
            </a:r>
          </a:p>
        </p:txBody>
      </p:sp>
    </p:spTree>
    <p:extLst>
      <p:ext uri="{BB962C8B-B14F-4D97-AF65-F5344CB8AC3E}">
        <p14:creationId xmlns:p14="http://schemas.microsoft.com/office/powerpoint/2010/main" val="3878952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KEY INSIGHTS</a:t>
            </a:r>
          </a:p>
        </p:txBody>
      </p:sp>
      <p:sp>
        <p:nvSpPr>
          <p:cNvPr id="3" name="Content Placeholder 2"/>
          <p:cNvSpPr>
            <a:spLocks noGrp="1"/>
          </p:cNvSpPr>
          <p:nvPr>
            <p:ph sz="half" idx="1"/>
          </p:nvPr>
        </p:nvSpPr>
        <p:spPr>
          <a:xfrm>
            <a:off x="1920345" y="1667933"/>
            <a:ext cx="4313864" cy="3777622"/>
          </a:xfrm>
        </p:spPr>
        <p:txBody>
          <a:bodyPr/>
          <a:lstStyle/>
          <a:p>
            <a:pPr marL="0" indent="0" algn="ctr">
              <a:buNone/>
            </a:pPr>
            <a:r>
              <a:rPr lang="en-IN" b="1" dirty="0"/>
              <a:t>Performance </a:t>
            </a:r>
            <a:r>
              <a:rPr lang="en-IN" b="1" dirty="0" smtClean="0"/>
              <a:t>Insights</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Industry AUM showed consistent growth.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Large-cap funds contributed the highest AUM.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Top-performing funds delivered strong long-term returns.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Risk-adjusted metrics helped compare fund quality</a:t>
            </a:r>
            <a:endParaRPr lang="en-IN" dirty="0"/>
          </a:p>
        </p:txBody>
      </p:sp>
      <p:sp>
        <p:nvSpPr>
          <p:cNvPr id="4" name="Content Placeholder 3"/>
          <p:cNvSpPr>
            <a:spLocks noGrp="1"/>
          </p:cNvSpPr>
          <p:nvPr>
            <p:ph sz="half" idx="2"/>
          </p:nvPr>
        </p:nvSpPr>
        <p:spPr>
          <a:xfrm>
            <a:off x="7048767" y="1667933"/>
            <a:ext cx="4313864" cy="3777622"/>
          </a:xfrm>
        </p:spPr>
        <p:txBody>
          <a:bodyPr/>
          <a:lstStyle/>
          <a:p>
            <a:pPr marL="0" indent="0" algn="ctr">
              <a:buNone/>
            </a:pPr>
            <a:r>
              <a:rPr lang="en-IN" b="1" dirty="0"/>
              <a:t>Business </a:t>
            </a:r>
            <a:r>
              <a:rPr lang="en-IN" b="1" dirty="0" smtClean="0"/>
              <a:t>Insights</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SIP inflows increased steadily over time.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Interactive dashboards simplified analysis.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Python ETL reduced manual effort. </a:t>
            </a:r>
          </a:p>
          <a:p>
            <a:pPr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Power BI enabled faster decision-making. </a:t>
            </a:r>
          </a:p>
          <a:p>
            <a:pPr marL="0" indent="0" algn="ctr">
              <a:buNone/>
            </a:pPr>
            <a:endParaRPr lang="en-IN" dirty="0"/>
          </a:p>
        </p:txBody>
      </p:sp>
    </p:spTree>
    <p:extLst>
      <p:ext uri="{BB962C8B-B14F-4D97-AF65-F5344CB8AC3E}">
        <p14:creationId xmlns:p14="http://schemas.microsoft.com/office/powerpoint/2010/main" val="144292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54827" y="0"/>
            <a:ext cx="8513716"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IN" sz="2800" b="1" dirty="0" smtClean="0">
                <a:solidFill>
                  <a:schemeClr val="tx1"/>
                </a:solidFill>
              </a:rPr>
              <a:t>CHALLENGES</a:t>
            </a:r>
            <a:endParaRPr lang="en-US" sz="2700" b="1" dirty="0">
              <a:solidFill>
                <a:schemeClr val="tx1"/>
              </a:solidFill>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2846080" y="1350092"/>
            <a:ext cx="7122463" cy="322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Handling missing and inconsistent financial datasets.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Cleaning and validating data from multiple CSV sources.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Designing an efficient ETL pipeline using Python.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Managing relationships between SQLite database tables.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Calculating advanced financial metrics (Sharpe Ratio, </a:t>
            </a:r>
            <a:r>
              <a:rPr lang="en-US" altLang="en-US" dirty="0" err="1">
                <a:solidFill>
                  <a:schemeClr val="tx1">
                    <a:lumMod val="75000"/>
                    <a:lumOff val="25000"/>
                  </a:schemeClr>
                </a:solidFill>
                <a:latin typeface="Times New Roman" panose="02020603050405020304" pitchFamily="18" charset="0"/>
                <a:cs typeface="Times New Roman" panose="02020603050405020304" pitchFamily="18" charset="0"/>
              </a:rPr>
              <a:t>VaR</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dirty="0" err="1">
                <a:solidFill>
                  <a:schemeClr val="tx1">
                    <a:lumMod val="75000"/>
                    <a:lumOff val="25000"/>
                  </a:schemeClr>
                </a:solidFill>
                <a:latin typeface="Times New Roman" panose="02020603050405020304" pitchFamily="18" charset="0"/>
                <a:cs typeface="Times New Roman" panose="02020603050405020304" pitchFamily="18" charset="0"/>
              </a:rPr>
              <a:t>CVaR</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Optimizing Power BI dashboards for smooth performance.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Ensuring data consistency across Python, SQLite, SQL, and Power BI. </a:t>
            </a:r>
          </a:p>
        </p:txBody>
      </p:sp>
    </p:spTree>
    <p:extLst>
      <p:ext uri="{BB962C8B-B14F-4D97-AF65-F5344CB8AC3E}">
        <p14:creationId xmlns:p14="http://schemas.microsoft.com/office/powerpoint/2010/main" val="4248013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435558" y="626558"/>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p:cNvSpPr>
            <a:spLocks noChangeArrowheads="1"/>
          </p:cNvSpPr>
          <p:nvPr/>
        </p:nvSpPr>
        <p:spPr bwMode="auto">
          <a:xfrm>
            <a:off x="2556933" y="1324717"/>
            <a:ext cx="7141763"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Successfully developed an end-to-end Mutual Fund Analytics solution. </a:t>
            </a: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Automated data extraction, cleaning, and loading using Python. </a:t>
            </a: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Designed a normalized SQLite database for efficient querying. </a:t>
            </a: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Built interactive Power BI dashboards for business insights. </a:t>
            </a: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Implemented advanced financial analytics for fund evaluation. </a:t>
            </a:r>
          </a:p>
          <a:p>
            <a:pPr marL="342900" indent="-342900" algn="just" defTabSz="914400" eaLnBrk="0" fontAlgn="base" hangingPunct="0">
              <a:lnSpc>
                <a:spcPct val="150000"/>
              </a:lnSpc>
              <a:spcBef>
                <a:spcPct val="0"/>
              </a:spcBef>
              <a:spcAft>
                <a:spcPct val="0"/>
              </a:spcAft>
              <a:buClr>
                <a:schemeClr val="accent1"/>
              </a:buClr>
              <a:buFont typeface="Wingdings" panose="05000000000000000000" pitchFamily="2" charset="2"/>
              <a:buChar char="Ø"/>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Enabled data-driven investment decision making. </a:t>
            </a:r>
          </a:p>
        </p:txBody>
      </p:sp>
    </p:spTree>
    <p:extLst>
      <p:ext uri="{BB962C8B-B14F-4D97-AF65-F5344CB8AC3E}">
        <p14:creationId xmlns:p14="http://schemas.microsoft.com/office/powerpoint/2010/main" val="38193693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13907" y="157128"/>
            <a:ext cx="4127863" cy="724942"/>
          </a:xfrm>
          <a:prstGeom prst="rect">
            <a:avLst/>
          </a:prstGeom>
        </p:spPr>
        <p:txBody>
          <a:bodyPr wrap="square">
            <a:spAutoFit/>
          </a:bodyPr>
          <a:lstStyle/>
          <a:p>
            <a:pPr lvl="2" algn="ctr">
              <a:lnSpc>
                <a:spcPct val="170000"/>
              </a:lnSpc>
            </a:pPr>
            <a:r>
              <a:rPr lang="en-IN" sz="2800" b="1" dirty="0"/>
              <a:t>FUTURE SCOPE</a:t>
            </a:r>
            <a:endParaRPr lang="en-US" sz="2700" b="1"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3513907" y="1203803"/>
            <a:ext cx="4980851" cy="322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Live mutual fund API integration.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AI/ML-based return prediction.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Portfolio optimization using Markowitz Model.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Monte Carlo simulation for forecasting.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err="1">
                <a:solidFill>
                  <a:schemeClr val="tx1">
                    <a:lumMod val="75000"/>
                    <a:lumOff val="25000"/>
                  </a:schemeClr>
                </a:solidFill>
                <a:latin typeface="Times New Roman" panose="02020603050405020304" pitchFamily="18" charset="0"/>
                <a:cs typeface="Times New Roman" panose="02020603050405020304" pitchFamily="18" charset="0"/>
              </a:rPr>
              <a:t>Streamlit</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web application deployment.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Mobile-friendly dashboard. </a:t>
            </a:r>
          </a:p>
          <a:p>
            <a:pPr marL="342900" marR="0" lvl="0" indent="-342900" algn="just" defTabSz="914400" eaLnBrk="0" fontAlgn="base" hangingPunct="0">
              <a:lnSpc>
                <a:spcPct val="150000"/>
              </a:lnSpc>
              <a:spcBef>
                <a:spcPct val="0"/>
              </a:spcBef>
              <a:spcAft>
                <a:spcPct val="0"/>
              </a:spcAft>
              <a:buClr>
                <a:schemeClr val="accent1"/>
              </a:buClr>
              <a:buSzTx/>
              <a:buFont typeface="Wingdings" panose="05000000000000000000" pitchFamily="2" charset="2"/>
              <a:buChar char="Ø"/>
              <a:tabLst/>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Automated email reporting system. </a:t>
            </a:r>
          </a:p>
        </p:txBody>
      </p:sp>
    </p:spTree>
    <p:extLst>
      <p:ext uri="{BB962C8B-B14F-4D97-AF65-F5344CB8AC3E}">
        <p14:creationId xmlns:p14="http://schemas.microsoft.com/office/powerpoint/2010/main" val="4497653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1DAF6D14-5E46-9602-744D-575A833A3B05}"/>
              </a:ext>
            </a:extLst>
          </p:cNvPr>
          <p:cNvSpPr txBox="1">
            <a:spLocks/>
          </p:cNvSpPr>
          <p:nvPr/>
        </p:nvSpPr>
        <p:spPr>
          <a:xfrm>
            <a:off x="1533346" y="1041516"/>
            <a:ext cx="8871305" cy="1001532"/>
          </a:xfrm>
          <a:prstGeom prst="rect">
            <a:avLst/>
          </a:prstGeom>
        </p:spPr>
        <p:txBody>
          <a:bodyPr>
            <a:normAutofit/>
            <a:scene3d>
              <a:camera prst="orthographicFront"/>
              <a:lightRig rig="threePt" dir="t"/>
            </a:scene3d>
            <a:sp3d extrusionH="57150">
              <a:bevelT w="133350" h="82550" prst="relaxedInset"/>
            </a:sp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pattFill prst="ltHorz">
                  <a:fgClr>
                    <a:srgbClr val="002060"/>
                  </a:fgClr>
                  <a:bgClr>
                    <a:srgbClr val="002060"/>
                  </a:bgClr>
                </a:pattFill>
                <a:effectLst>
                  <a:glow>
                    <a:schemeClr val="accent1">
                      <a:alpha val="42000"/>
                    </a:schemeClr>
                  </a:glow>
                </a:effectLst>
              </a:rPr>
              <a:t>END OF THE SLIDE</a:t>
            </a:r>
            <a:endParaRPr lang="en-IN" sz="4000" b="1" dirty="0">
              <a:pattFill prst="ltHorz">
                <a:fgClr>
                  <a:srgbClr val="002060"/>
                </a:fgClr>
                <a:bgClr>
                  <a:srgbClr val="002060"/>
                </a:bgClr>
              </a:pattFill>
              <a:effectLst>
                <a:glow>
                  <a:schemeClr val="accent1">
                    <a:alpha val="42000"/>
                  </a:schemeClr>
                </a:glow>
              </a:effectLst>
            </a:endParaRPr>
          </a:p>
        </p:txBody>
      </p:sp>
      <p:sp>
        <p:nvSpPr>
          <p:cNvPr id="5" name="Content Placeholder 2">
            <a:extLst>
              <a:ext uri="{FF2B5EF4-FFF2-40B4-BE49-F238E27FC236}">
                <a16:creationId xmlns="" xmlns:a16="http://schemas.microsoft.com/office/drawing/2014/main" id="{712C60AE-69F2-6AFB-A870-725F4B3DF094}"/>
              </a:ext>
            </a:extLst>
          </p:cNvPr>
          <p:cNvSpPr txBox="1">
            <a:spLocks/>
          </p:cNvSpPr>
          <p:nvPr/>
        </p:nvSpPr>
        <p:spPr>
          <a:xfrm>
            <a:off x="1092197" y="4655184"/>
            <a:ext cx="9753600" cy="1094165"/>
          </a:xfrm>
          <a:prstGeom prst="rect">
            <a:avLst/>
          </a:prstGeom>
          <a:noFill/>
          <a:ln>
            <a:noFill/>
          </a:ln>
          <a:effectLst>
            <a:glow>
              <a:schemeClr val="accent1">
                <a:alpha val="40000"/>
              </a:schemeClr>
            </a:glow>
          </a:effectLst>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ctr">
              <a:buFont typeface="Arial"/>
              <a:buNone/>
            </a:pPr>
            <a:r>
              <a:rPr lang="en-US" sz="4800" b="1" dirty="0" smtClean="0">
                <a:ln>
                  <a:solidFill>
                    <a:srgbClr val="002060"/>
                  </a:solidFill>
                </a:ln>
                <a:gradFill flip="none" rotWithShape="1">
                  <a:gsLst>
                    <a:gs pos="0">
                      <a:schemeClr val="accent2">
                        <a:lumMod val="50000"/>
                      </a:schemeClr>
                    </a:gs>
                    <a:gs pos="50000">
                      <a:schemeClr val="accent6">
                        <a:lumMod val="50000"/>
                        <a:shade val="67500"/>
                        <a:satMod val="115000"/>
                      </a:schemeClr>
                    </a:gs>
                    <a:gs pos="100000">
                      <a:srgbClr val="0070C0"/>
                    </a:gs>
                  </a:gsLst>
                  <a:lin ang="13500000" scaled="1"/>
                  <a:tileRect/>
                </a:gradFill>
              </a:rPr>
              <a:t>THANKYOU</a:t>
            </a:r>
            <a:endParaRPr lang="en-IN" sz="4800" b="1" dirty="0">
              <a:ln>
                <a:solidFill>
                  <a:srgbClr val="002060"/>
                </a:solidFill>
              </a:ln>
              <a:gradFill flip="none" rotWithShape="1">
                <a:gsLst>
                  <a:gs pos="0">
                    <a:schemeClr val="accent2">
                      <a:lumMod val="50000"/>
                    </a:schemeClr>
                  </a:gs>
                  <a:gs pos="50000">
                    <a:schemeClr val="accent6">
                      <a:lumMod val="50000"/>
                      <a:shade val="67500"/>
                      <a:satMod val="115000"/>
                    </a:schemeClr>
                  </a:gs>
                  <a:gs pos="100000">
                    <a:srgbClr val="0070C0"/>
                  </a:gs>
                </a:gsLst>
                <a:lin ang="13500000" scaled="1"/>
                <a:tileRect/>
              </a:gradFill>
            </a:endParaRPr>
          </a:p>
        </p:txBody>
      </p:sp>
      <p:pic>
        <p:nvPicPr>
          <p:cNvPr id="6" name="Picture 5">
            <a:extLst>
              <a:ext uri="{FF2B5EF4-FFF2-40B4-BE49-F238E27FC236}">
                <a16:creationId xmlns="" xmlns:a16="http://schemas.microsoft.com/office/drawing/2014/main" id="{AB32B460-77DF-30BB-55D3-D464E34F00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0785" y="2043048"/>
            <a:ext cx="3116425" cy="2612136"/>
          </a:xfrm>
          <a:prstGeom prst="rect">
            <a:avLst/>
          </a:prstGeom>
        </p:spPr>
      </p:pic>
      <p:sp>
        <p:nvSpPr>
          <p:cNvPr id="3" name="Rectangle 2"/>
          <p:cNvSpPr/>
          <p:nvPr/>
        </p:nvSpPr>
        <p:spPr>
          <a:xfrm>
            <a:off x="1533346" y="5850949"/>
            <a:ext cx="2421815" cy="923330"/>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Prabhash Kumar </a:t>
            </a:r>
            <a:endParaRPr lang="en-IN" b="1" dirty="0" smtClean="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Data </a:t>
            </a:r>
            <a:r>
              <a:rPr lang="en-IN" b="1" dirty="0">
                <a:latin typeface="Times New Roman" panose="02020603050405020304" pitchFamily="18" charset="0"/>
                <a:cs typeface="Times New Roman" panose="02020603050405020304" pitchFamily="18" charset="0"/>
              </a:rPr>
              <a:t>Analytics Intern </a:t>
            </a:r>
            <a:endParaRPr lang="en-IN" b="1" dirty="0" smtClean="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Bluestock </a:t>
            </a:r>
            <a:r>
              <a:rPr lang="en-IN" b="1" dirty="0">
                <a:latin typeface="Times New Roman" panose="02020603050405020304" pitchFamily="18" charset="0"/>
                <a:cs typeface="Times New Roman" panose="02020603050405020304" pitchFamily="18" charset="0"/>
              </a:rPr>
              <a:t>Fintech</a:t>
            </a:r>
          </a:p>
        </p:txBody>
      </p:sp>
    </p:spTree>
    <p:extLst>
      <p:ext uri="{BB962C8B-B14F-4D97-AF65-F5344CB8AC3E}">
        <p14:creationId xmlns:p14="http://schemas.microsoft.com/office/powerpoint/2010/main" val="208887799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4168</TotalTime>
  <Words>1026</Words>
  <Application>Microsoft Office PowerPoint</Application>
  <PresentationFormat>Widescreen</PresentationFormat>
  <Paragraphs>148</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Calibri</vt:lpstr>
      <vt:lpstr>Century Gothic</vt:lpstr>
      <vt:lpstr>Times New Roman</vt:lpstr>
      <vt:lpstr>Wingdings</vt:lpstr>
      <vt:lpstr>Wingdings 3</vt:lpstr>
      <vt:lpstr>Wisp</vt:lpstr>
      <vt:lpstr>PowerPoint Presentation</vt:lpstr>
      <vt:lpstr> PROJECT OVERVIEW</vt:lpstr>
      <vt:lpstr>INTRODUCTION</vt:lpstr>
      <vt:lpstr>OBJECTIVE </vt:lpstr>
      <vt:lpstr>TECHNOLOGY STACK </vt:lpstr>
      <vt:lpstr>SYSTEM ARCHITECTURE</vt:lpstr>
      <vt:lpstr>ETL PIPELINE</vt:lpstr>
      <vt:lpstr>DATABASE DESIGN </vt:lpstr>
      <vt:lpstr>PowerPoint Presentation</vt:lpstr>
      <vt:lpstr>PowerPoint Presentation</vt:lpstr>
      <vt:lpstr>PowerPoint Presentation</vt:lpstr>
      <vt:lpstr>SIP &amp; MARKET TREND ANALYSIS </vt:lpstr>
      <vt:lpstr>FUND DETAILS ANALYSIS  </vt:lpstr>
      <vt:lpstr>KEY INSIGHTS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Devishreevani S</dc:creator>
  <cp:lastModifiedBy>Microsoft account</cp:lastModifiedBy>
  <cp:revision>111</cp:revision>
  <dcterms:created xsi:type="dcterms:W3CDTF">2024-12-05T09:05:52Z</dcterms:created>
  <dcterms:modified xsi:type="dcterms:W3CDTF">2026-07-10T17:19:32Z</dcterms:modified>
</cp:coreProperties>
</file>